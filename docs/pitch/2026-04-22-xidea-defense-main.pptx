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bda6748a83492b" /><Relationship Type="http://schemas.openxmlformats.org/officeDocument/2006/relationships/extended-properties" Target="/docProps/app.xml" Id="R25441d8576c944e2" /><Relationship Type="http://schemas.openxmlformats.org/officeDocument/2006/relationships/officeDocument" Target="/ppt/presentation.xml" Id="R51f31bcec0b140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1d5b78c54d4ba5"/>
  </p:sldMasterIdLst>
  <p:notesMasterIdLst>
    <p:notesMasterId xmlns:r="http://schemas.openxmlformats.org/officeDocument/2006/relationships" r:id="R227b2133a1274948"/>
  </p:notesMasterIdLst>
  <p:sldIdLst>
    <p:sldId xmlns:r="http://schemas.openxmlformats.org/officeDocument/2006/relationships" id="256" r:id="R1903d263f1944e2b"/>
    <p:sldId xmlns:r="http://schemas.openxmlformats.org/officeDocument/2006/relationships" id="257" r:id="R62b3b0de445e4f3b"/>
    <p:sldId xmlns:r="http://schemas.openxmlformats.org/officeDocument/2006/relationships" id="258" r:id="R6e261279a6b54652"/>
    <p:sldId xmlns:r="http://schemas.openxmlformats.org/officeDocument/2006/relationships" id="259" r:id="R6eab28c6815b4a9e"/>
    <p:sldId xmlns:r="http://schemas.openxmlformats.org/officeDocument/2006/relationships" id="260" r:id="R9a86bb38da0f45da"/>
    <p:sldId xmlns:r="http://schemas.openxmlformats.org/officeDocument/2006/relationships" id="261" r:id="Ra4499f500e404461"/>
    <p:sldId xmlns:r="http://schemas.openxmlformats.org/officeDocument/2006/relationships" id="262" r:id="R7164b6713402412f"/>
    <p:sldId xmlns:r="http://schemas.openxmlformats.org/officeDocument/2006/relationships" id="263" r:id="R5877691d1f8648bb"/>
    <p:sldId xmlns:r="http://schemas.openxmlformats.org/officeDocument/2006/relationships" id="264" r:id="Rdb1048282537482a"/>
    <p:sldId xmlns:r="http://schemas.openxmlformats.org/officeDocument/2006/relationships" id="265" r:id="R27b8d20f6ce9425a"/>
    <p:sldId xmlns:r="http://schemas.openxmlformats.org/officeDocument/2006/relationships" id="266" r:id="Rdf43853d5ba349cf"/>
    <p:sldId xmlns:r="http://schemas.openxmlformats.org/officeDocument/2006/relationships" id="267" r:id="R27efd250c0424ab0"/>
    <p:sldId xmlns:r="http://schemas.openxmlformats.org/officeDocument/2006/relationships" id="268" r:id="R9730fb39558b4a24"/>
    <p:sldId xmlns:r="http://schemas.openxmlformats.org/officeDocument/2006/relationships" id="269" r:id="R066d5ef7e0a34752"/>
    <p:sldId xmlns:r="http://schemas.openxmlformats.org/officeDocument/2006/relationships" id="270" r:id="Rf62f8d55a9f54514"/>
    <p:sldId xmlns:r="http://schemas.openxmlformats.org/officeDocument/2006/relationships" id="271" r:id="R6b70c9b984714b50"/>
    <p:sldId xmlns:r="http://schemas.openxmlformats.org/officeDocument/2006/relationships" id="272" r:id="R5365cf372e0d436f"/>
    <p:sldId xmlns:r="http://schemas.openxmlformats.org/officeDocument/2006/relationships" id="273" r:id="R5f38cc089519489d"/>
    <p:sldId xmlns:r="http://schemas.openxmlformats.org/officeDocument/2006/relationships" id="274" r:id="Ref04b9787a284407"/>
    <p:sldId xmlns:r="http://schemas.openxmlformats.org/officeDocument/2006/relationships" id="275" r:id="R34288b815424416f"/>
    <p:sldId xmlns:r="http://schemas.openxmlformats.org/officeDocument/2006/relationships" id="276" r:id="R4bf09b4b1b22463a"/>
    <p:sldId xmlns:r="http://schemas.openxmlformats.org/officeDocument/2006/relationships" id="277" r:id="R739022391f9040b2"/>
    <p:sldId xmlns:r="http://schemas.openxmlformats.org/officeDocument/2006/relationships" id="278" r:id="R77f79527f51341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1d5b78c54d4ba5" /><Relationship Type="http://schemas.openxmlformats.org/officeDocument/2006/relationships/theme" Target="/ppt/theme/theme1.xml" Id="Rb9acc256338d4ae6" /><Relationship Type="http://schemas.openxmlformats.org/officeDocument/2006/relationships/notesMaster" Target="/ppt/notesMasters/notesMaster1.xml" Id="R227b2133a1274948" /><Relationship Type="http://schemas.openxmlformats.org/officeDocument/2006/relationships/presProps" Target="/ppt/presProps.xml" Id="R6991749d778649ca" /><Relationship Type="http://schemas.openxmlformats.org/officeDocument/2006/relationships/viewProps" Target="/ppt/viewProps.xml" Id="R3c705f97efbe4397" /><Relationship Type="http://schemas.openxmlformats.org/officeDocument/2006/relationships/tableStyles" Target="/ppt/tableStyles.xml" Id="Rcdfeb8dd46ee4d64" /><Relationship Type="http://schemas.openxmlformats.org/officeDocument/2006/relationships/slide" Target="/ppt/slides/slide1.xml" Id="R1903d263f1944e2b" /><Relationship Type="http://schemas.openxmlformats.org/officeDocument/2006/relationships/slide" Target="/ppt/slides/slide2.xml" Id="R62b3b0de445e4f3b" /><Relationship Type="http://schemas.openxmlformats.org/officeDocument/2006/relationships/slide" Target="/ppt/slides/slide3.xml" Id="R6e261279a6b54652" /><Relationship Type="http://schemas.openxmlformats.org/officeDocument/2006/relationships/slide" Target="/ppt/slides/slide4.xml" Id="R6eab28c6815b4a9e" /><Relationship Type="http://schemas.openxmlformats.org/officeDocument/2006/relationships/slide" Target="/ppt/slides/slide5.xml" Id="R9a86bb38da0f45da" /><Relationship Type="http://schemas.openxmlformats.org/officeDocument/2006/relationships/slide" Target="/ppt/slides/slide6.xml" Id="Ra4499f500e404461" /><Relationship Type="http://schemas.openxmlformats.org/officeDocument/2006/relationships/slide" Target="/ppt/slides/slide7.xml" Id="R7164b6713402412f" /><Relationship Type="http://schemas.openxmlformats.org/officeDocument/2006/relationships/slide" Target="/ppt/slides/slide8.xml" Id="R5877691d1f8648bb" /><Relationship Type="http://schemas.openxmlformats.org/officeDocument/2006/relationships/slide" Target="/ppt/slides/slide9.xml" Id="Rdb1048282537482a" /><Relationship Type="http://schemas.openxmlformats.org/officeDocument/2006/relationships/slide" Target="/ppt/slides/slide10.xml" Id="R27b8d20f6ce9425a" /><Relationship Type="http://schemas.openxmlformats.org/officeDocument/2006/relationships/slide" Target="/ppt/slides/slide11.xml" Id="Rdf43853d5ba349cf" /><Relationship Type="http://schemas.openxmlformats.org/officeDocument/2006/relationships/slide" Target="/ppt/slides/slide12.xml" Id="R27efd250c0424ab0" /><Relationship Type="http://schemas.openxmlformats.org/officeDocument/2006/relationships/slide" Target="/ppt/slides/slide13.xml" Id="R9730fb39558b4a24" /><Relationship Type="http://schemas.openxmlformats.org/officeDocument/2006/relationships/slide" Target="/ppt/slides/slide14.xml" Id="R066d5ef7e0a34752" /><Relationship Type="http://schemas.openxmlformats.org/officeDocument/2006/relationships/slide" Target="/ppt/slides/slide15.xml" Id="Rf62f8d55a9f54514" /><Relationship Type="http://schemas.openxmlformats.org/officeDocument/2006/relationships/slide" Target="/ppt/slides/slide16.xml" Id="R6b70c9b984714b50" /><Relationship Type="http://schemas.openxmlformats.org/officeDocument/2006/relationships/slide" Target="/ppt/slides/slide17.xml" Id="R5365cf372e0d436f" /><Relationship Type="http://schemas.openxmlformats.org/officeDocument/2006/relationships/slide" Target="/ppt/slides/slide18.xml" Id="R5f38cc089519489d" /><Relationship Type="http://schemas.openxmlformats.org/officeDocument/2006/relationships/slide" Target="/ppt/slides/slide19.xml" Id="Ref04b9787a284407" /><Relationship Type="http://schemas.openxmlformats.org/officeDocument/2006/relationships/slide" Target="/ppt/slides/slide20.xml" Id="R34288b815424416f" /><Relationship Type="http://schemas.openxmlformats.org/officeDocument/2006/relationships/slide" Target="/ppt/slides/slide21.xml" Id="R4bf09b4b1b22463a" /><Relationship Type="http://schemas.openxmlformats.org/officeDocument/2006/relationships/slide" Target="/ppt/slides/slide22.xml" Id="R739022391f9040b2" /><Relationship Type="http://schemas.openxmlformats.org/officeDocument/2006/relationships/slide" Target="/ppt/slides/slide23.xml" Id="R77f79527f51341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456fc3c1da147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d1dff6cc14d00" /><Relationship Type="http://schemas.openxmlformats.org/officeDocument/2006/relationships/notesMaster" Target="/ppt/notesMasters/notesMaster1.xml" Id="Re088fac089dc40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40787aaa654e69" /><Relationship Type="http://schemas.openxmlformats.org/officeDocument/2006/relationships/notesMaster" Target="/ppt/notesMasters/notesMaster1.xml" Id="Rf6b979147b0e4a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bee13c0b4a44b0" /><Relationship Type="http://schemas.openxmlformats.org/officeDocument/2006/relationships/notesMaster" Target="/ppt/notesMasters/notesMaster1.xml" Id="R1576f217f4544c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586380c75c4035" /><Relationship Type="http://schemas.openxmlformats.org/officeDocument/2006/relationships/notesMaster" Target="/ppt/notesMasters/notesMaster1.xml" Id="R8b1c586d19ee4a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f7b044da13495a" /><Relationship Type="http://schemas.openxmlformats.org/officeDocument/2006/relationships/notesMaster" Target="/ppt/notesMasters/notesMaster1.xml" Id="R0a84d1e12d2b48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a282045bad4857" /><Relationship Type="http://schemas.openxmlformats.org/officeDocument/2006/relationships/notesMaster" Target="/ppt/notesMasters/notesMaster1.xml" Id="R638e7c359bf34a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2c84226b264b8d" /><Relationship Type="http://schemas.openxmlformats.org/officeDocument/2006/relationships/notesMaster" Target="/ppt/notesMasters/notesMaster1.xml" Id="R42ae79a192bb44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43b10e745d4200" /><Relationship Type="http://schemas.openxmlformats.org/officeDocument/2006/relationships/notesMaster" Target="/ppt/notesMasters/notesMaster1.xml" Id="R9b83f5ca3a7946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739418bd994728" /><Relationship Type="http://schemas.openxmlformats.org/officeDocument/2006/relationships/notesMaster" Target="/ppt/notesMasters/notesMaster1.xml" Id="R36141b8a22f64c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6b7b2152d04fb6" /><Relationship Type="http://schemas.openxmlformats.org/officeDocument/2006/relationships/notesMaster" Target="/ppt/notesMasters/notesMaster1.xml" Id="R164dd9aff71041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14ad10892a404d" /><Relationship Type="http://schemas.openxmlformats.org/officeDocument/2006/relationships/notesMaster" Target="/ppt/notesMasters/notesMaster1.xml" Id="Rd8d317d2759744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c8b4e2cd1a45c4" /><Relationship Type="http://schemas.openxmlformats.org/officeDocument/2006/relationships/notesMaster" Target="/ppt/notesMasters/notesMaster1.xml" Id="R53be94fa6b4b45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681512a84242ec" /><Relationship Type="http://schemas.openxmlformats.org/officeDocument/2006/relationships/notesMaster" Target="/ppt/notesMasters/notesMaster1.xml" Id="R02d74c01b4aa49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c2a89ed28b4d52" /><Relationship Type="http://schemas.openxmlformats.org/officeDocument/2006/relationships/notesMaster" Target="/ppt/notesMasters/notesMaster1.xml" Id="R62956bf8a612464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d6349db5f14cf3" /><Relationship Type="http://schemas.openxmlformats.org/officeDocument/2006/relationships/notesMaster" Target="/ppt/notesMasters/notesMaster1.xml" Id="Rcebfef1a6b0548c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d3b5c3a9954bdc" /><Relationship Type="http://schemas.openxmlformats.org/officeDocument/2006/relationships/notesMaster" Target="/ppt/notesMasters/notesMaster1.xml" Id="R9b832c43f45045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8dacb3f597f4ac5" /><Relationship Type="http://schemas.openxmlformats.org/officeDocument/2006/relationships/notesMaster" Target="/ppt/notesMasters/notesMaster1.xml" Id="Ra0da79973b4447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e7058668804347" /><Relationship Type="http://schemas.openxmlformats.org/officeDocument/2006/relationships/notesMaster" Target="/ppt/notesMasters/notesMaster1.xml" Id="R009abfa10eaf432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00caa90d4be4299" /><Relationship Type="http://schemas.openxmlformats.org/officeDocument/2006/relationships/notesMaster" Target="/ppt/notesMasters/notesMaster1.xml" Id="R937327a763aa44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f582c599364054" /><Relationship Type="http://schemas.openxmlformats.org/officeDocument/2006/relationships/notesMaster" Target="/ppt/notesMasters/notesMaster1.xml" Id="R4c1668caabf547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ae895eee9f4306" /><Relationship Type="http://schemas.openxmlformats.org/officeDocument/2006/relationships/notesMaster" Target="/ppt/notesMasters/notesMaster1.xml" Id="R8814b8edd1b849a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0f708800584ef2" /><Relationship Type="http://schemas.openxmlformats.org/officeDocument/2006/relationships/notesMaster" Target="/ppt/notesMasters/notesMaster1.xml" Id="R8f76a7472b05493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fd82652e5704837" /><Relationship Type="http://schemas.openxmlformats.org/officeDocument/2006/relationships/notesMaster" Target="/ppt/notesMasters/notesMaster1.xml" Id="R964110f3b36541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封面需要更强氛围图，右侧留给后续 gpt-image-2 生成的 hero visual。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用深色页快速建立主论点。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右栏最后一条是给内部制作提示；如需对外可删除。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右侧为 AI 配图槽位。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深色强调页，右侧留图。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左右对照页。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右侧留给 scope 生图。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产品系统主线图。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桥接 vision 与 MVP。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右侧媒体槽位保留给截图或 GIF。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三连截图或短录屏位。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左右对照结构。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右侧留给反馈循环生图。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状态证据拼贴页。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建议后续替换成截图 / GIF 拼贴。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roadmap。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大媒体槽位。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大媒体槽位。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技术模块总览图位。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技术能力拆解页。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Memory 分层说明。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技术结论页。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收尾页，右侧留结尾图。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Xidea pitch script, media manifest, and approved defense narrative.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ed1982c8344a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DBC362-EFB9-4071-B377-C354995B062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80B030-9917-449C-A104-E273C8D77DD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e9e78e8df1e4505" /><Relationship Type="http://schemas.openxmlformats.org/officeDocument/2006/relationships/slideLayout" Target="/ppt/slideLayouts/slideLayout2.xml" Id="Ra0839c27baff42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6CDA840-2BD1-4C0C-B660-CEFACE398EE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839c27baff42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6f3c80e6f94a72" /><Relationship Type="http://schemas.openxmlformats.org/officeDocument/2006/relationships/notesSlide" Target="/ppt/notesSlides/notesSlide1.xml" Id="R231d15dee2c643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bea0c08a254b09" /><Relationship Type="http://schemas.openxmlformats.org/officeDocument/2006/relationships/notesSlide" Target="/ppt/notesSlides/notesSlide2.xml" Id="R362e6844966b45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38daefb61947d8" /><Relationship Type="http://schemas.openxmlformats.org/officeDocument/2006/relationships/notesSlide" Target="/ppt/notesSlides/notesSlide3.xml" Id="Rb13d341312e7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94e39932b94cb5" /><Relationship Type="http://schemas.openxmlformats.org/officeDocument/2006/relationships/notesSlide" Target="/ppt/notesSlides/notesSlide4.xml" Id="Rcd30c70c326840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c3010f1f024aa1" /><Relationship Type="http://schemas.openxmlformats.org/officeDocument/2006/relationships/notesSlide" Target="/ppt/notesSlides/notesSlide5.xml" Id="R0968d2083b4d4f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525c709f5840bd" /><Relationship Type="http://schemas.openxmlformats.org/officeDocument/2006/relationships/notesSlide" Target="/ppt/notesSlides/notesSlide6.xml" Id="R7f1ce44d356a4d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48b57b6624071" /><Relationship Type="http://schemas.openxmlformats.org/officeDocument/2006/relationships/notesSlide" Target="/ppt/notesSlides/notesSlide7.xml" Id="R61a662a2dfa34a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f57833f7674a0d" /><Relationship Type="http://schemas.openxmlformats.org/officeDocument/2006/relationships/notesSlide" Target="/ppt/notesSlides/notesSlide8.xml" Id="R8bb71bda910648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3b84a9f3f142a6" /><Relationship Type="http://schemas.openxmlformats.org/officeDocument/2006/relationships/notesSlide" Target="/ppt/notesSlides/notesSlide9.xml" Id="R0a70b0a091d243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b611430aed4d96" /><Relationship Type="http://schemas.openxmlformats.org/officeDocument/2006/relationships/notesSlide" Target="/ppt/notesSlides/notesSlide10.xml" Id="R7a36b1ac5e2145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e2fcdf5ad04226" /><Relationship Type="http://schemas.openxmlformats.org/officeDocument/2006/relationships/notesSlide" Target="/ppt/notesSlides/notesSlide11.xml" Id="R4cd4d903b80f47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d29f32612d4494" /><Relationship Type="http://schemas.openxmlformats.org/officeDocument/2006/relationships/notesSlide" Target="/ppt/notesSlides/notesSlide12.xml" Id="Re5809744847849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7b51b418604ba9" /><Relationship Type="http://schemas.openxmlformats.org/officeDocument/2006/relationships/notesSlide" Target="/ppt/notesSlides/notesSlide13.xml" Id="Ra315464f77584a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d7424d369643f0" /><Relationship Type="http://schemas.openxmlformats.org/officeDocument/2006/relationships/notesSlide" Target="/ppt/notesSlides/notesSlide14.xml" Id="Rd665ab5b5a0546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8fda966c2240ea" /><Relationship Type="http://schemas.openxmlformats.org/officeDocument/2006/relationships/notesSlide" Target="/ppt/notesSlides/notesSlide15.xml" Id="R2a9ee4ea011d4a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9bb95c81604591" /><Relationship Type="http://schemas.openxmlformats.org/officeDocument/2006/relationships/notesSlide" Target="/ppt/notesSlides/notesSlide16.xml" Id="R9ecd784fec3843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65bd3dce164809" /><Relationship Type="http://schemas.openxmlformats.org/officeDocument/2006/relationships/notesSlide" Target="/ppt/notesSlides/notesSlide17.xml" Id="Ra800f04817934e4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a786c5366c4cdd" /><Relationship Type="http://schemas.openxmlformats.org/officeDocument/2006/relationships/notesSlide" Target="/ppt/notesSlides/notesSlide18.xml" Id="R4e5beba7a1dd4c9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e679ddd4984c3a" /><Relationship Type="http://schemas.openxmlformats.org/officeDocument/2006/relationships/notesSlide" Target="/ppt/notesSlides/notesSlide19.xml" Id="R8e0f84555c8643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adac84298f47e2" /><Relationship Type="http://schemas.openxmlformats.org/officeDocument/2006/relationships/notesSlide" Target="/ppt/notesSlides/notesSlide20.xml" Id="Rda60580d2af24d2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f7af1db73468e" /><Relationship Type="http://schemas.openxmlformats.org/officeDocument/2006/relationships/notesSlide" Target="/ppt/notesSlides/notesSlide21.xml" Id="R9e491074fb7e4cb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eeb4f5d23a47b0" /><Relationship Type="http://schemas.openxmlformats.org/officeDocument/2006/relationships/notesSlide" Target="/ppt/notesSlides/notesSlide22.xml" Id="R4e5630145b2246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645fb61fbb4486" /><Relationship Type="http://schemas.openxmlformats.org/officeDocument/2006/relationships/notesSlide" Target="/ppt/notesSlides/notesSlide23.xml" Id="R991d57b465e744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BF31F-7014-4B7D-BA5D-BF3A339B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XIDEA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D831E-AE05-4642-AF5E-03D93E0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01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2288D-A997-4D22-8799-48A760D1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E1F71-C1E2-4E0A-9F40-DA250DB4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E560A-FE60-4AC6-89AC-D5B8460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028700"/>
            <a:ext cx="762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F9E4D-F023-47E2-BE63-FC455F45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1200150"/>
            <a:ext cx="5334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41413"/>
                </a:solidFill>
              </a:defRPr>
            </a:pPr>
            <a:r>
              <a:rPr sz="3450" b="1">
                <a:solidFill>
                  <a:srgbClr val="141413"/>
                </a:solidFill>
              </a:rPr>
              <a:t>Xidea：AI 学习编排系统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FDED3-A41E-438C-9C36-26AB12FF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3105150"/>
            <a:ext cx="447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E5D59"/>
                </a:solidFill>
              </a:defRPr>
            </a:pPr>
            <a:r>
              <a:rPr sz="1650" b="0">
                <a:solidFill>
                  <a:srgbClr val="5E5D59"/>
                </a:solidFill>
              </a:rPr>
              <a:t>用 AI 把分散的学习环节重新整合成持续学习系统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A3392-15B5-40FE-B610-A92E8F7D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476750"/>
            <a:ext cx="3905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3E6ED-E1DB-4965-9B89-DAC39E81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4767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CC02D-F655-4A4A-81C1-06B9BB5F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7053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1413"/>
                </a:solidFill>
              </a:defRPr>
            </a:pPr>
            <a:r>
              <a:rPr sz="1800" b="1">
                <a:solidFill>
                  <a:srgbClr val="141413"/>
                </a:solidFill>
              </a:rPr>
              <a:t>学习编排 + 复习反馈驱动持续学习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924B7-83ED-4C92-A6C8-CAA5BF1F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1085850"/>
            <a:ext cx="4362450" cy="468630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4C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8369A-BEA8-42CB-849B-299DEA97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1085850"/>
            <a:ext cx="436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F9CDE-5498-488E-A7A6-1566EC76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7563993" y="3382137"/>
            <a:ext cx="31409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AF19F-FE5B-4F91-ABD6-6DB68BFD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7563993" y="3382137"/>
            <a:ext cx="314096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F82C5-8884-47A7-9177-BE2E3C1E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6825" y="3181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>
              <a:alpha val="8627"/>
            </a:srgbClr>
          </a:solidFill>
          <a:ln xmlns:a="http://schemas.openxmlformats.org/drawingml/2006/main" w="9525">
            <a:solidFill>
              <a:srgbClr val="E8E6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48290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1B264-0792-45BE-BAFD-5103D6F1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A1B00-83F5-4B4C-8A16-96CCFE2D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02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29BE5-D2A5-47F7-A695-C3FDAA04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FF6E3-A67E-4CF1-8453-C3A2C514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B0AE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71762-E6E7-4713-9341-DB02E109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723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AF9F5"/>
                </a:solidFill>
              </a:defRPr>
            </a:pPr>
            <a:r>
              <a:rPr sz="2550" b="1">
                <a:solidFill>
                  <a:srgbClr val="FAF9F5"/>
                </a:solidFill>
              </a:rPr>
              <a:t>一句话定义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19EF9-1318-405C-AAC1-742D865F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0AEA5"/>
                </a:solidFill>
              </a:defRPr>
            </a:pPr>
            <a:r>
              <a:rPr sz="1350" b="0">
                <a:solidFill>
                  <a:srgbClr val="B0AEA5"/>
                </a:solidFill>
              </a:rPr>
              <a:t>不是功能更全，而是第一次把完整学习上下文放回同一个系统。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CFF40-50C6-425C-BB8D-C94754CA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86100"/>
            <a:ext cx="108966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30302E"/>
          </a:solidFill>
          <a:ln xmlns:a="http://schemas.openxmlformats.org/drawingml/2006/main" w="9525">
            <a:solidFill>
              <a:srgbClr val="3D3D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0A4E4C-B10E-4B5B-AF7F-67A8BB3A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86100"/>
            <a:ext cx="7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3504B-5D3F-4540-8A86-90216FFB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600450"/>
            <a:ext cx="10020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AF9F5"/>
                </a:solidFill>
              </a:defRPr>
            </a:pPr>
            <a:r>
              <a:rPr sz="2550" b="1">
                <a:solidFill>
                  <a:srgbClr val="FAF9F5"/>
                </a:solidFill>
              </a:rPr>
              <a:t>用 AI 把分散的学习环节重新整合成持续学习系统。</a:t>
            </a:r>
          </a:p>
        </p:txBody>
      </p:sp>
    </p:spTree>
    <p:extLst>
      <p:ext uri="{BB962C8B-B14F-4D97-AF65-F5344CB8AC3E}">
        <p14:creationId xmlns:p14="http://schemas.microsoft.com/office/powerpoint/2010/main" val="1946707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710B0-4344-4A38-9E43-340E6B16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82EDD-9331-463F-AEAD-1CE7FF95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03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68128-5410-42AF-B844-E5A9FFBE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074DE-9387-4126-864B-64F0E1D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AFFCA-8251-4FE4-8BC8-F8F4EB89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781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现有产品解决的是分散环节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9D9A15-4E22-4E39-9F95-85402D85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竞品各自占一段，但还没有统一的学习编排层。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6FFB1-003E-43E4-B244-E3396BF1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09900"/>
            <a:ext cx="5143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DF7D0-1E93-4238-B959-30F34C55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099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C2EFF-006C-4CB7-900E-0DE2EA3C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09900"/>
            <a:ext cx="5143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A0B87-66EE-4662-BB4D-D2717F09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099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3AE6D-88C5-4091-AE74-BE476E1D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2385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已有强项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680EC-6DCA-4A17-B63A-568AC1D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2385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仍然缺失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095E5-6B6D-4483-9F75-D3A76910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6C0F3-D545-45AC-A1C2-9A46C0EC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752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Anki：科学复习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A43B6-0310-45BB-99C8-52E1958E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95A55D-A977-44B1-8BB2-3AC587C4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3243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AI tutor：即时辅导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9931B-AE02-4CF6-9157-EEB7A71D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F5F8CB-A38A-4400-A242-EE8F7382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895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材料理解工具：资料整理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F51AA-EFAF-4818-A366-A060A17D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54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969DCB-CA92-4BDE-92DE-274C7E8E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54673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语言训练产品：场景化训练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E012AF-E792-4B47-975F-8BE30E55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6429F-9E88-49D4-81E4-9AE52F62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3752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缺少跨环节连续上下文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7E31B4-53AD-4121-A044-E95DDBD6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00CDF6-4C26-4E58-AF3F-513543F2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43243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缺少围绕知识点状态的持续判断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036F9-942D-4D03-987B-CF8B111A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B7160-86A5-4EC3-8F6A-1B86FB83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4895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缺少把反馈写回下一轮学习的系统</a:t>
            </a:r>
          </a:p>
        </p:txBody>
      </p:sp>
    </p:spTree>
    <p:extLst>
      <p:ext uri="{BB962C8B-B14F-4D97-AF65-F5344CB8AC3E}">
        <p14:creationId xmlns:p14="http://schemas.microsoft.com/office/powerpoint/2010/main" val="592708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43663-E423-4169-9ED4-A1DC6F3F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D1EC5-3967-4048-B08F-2EA5FC37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04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2AF7F-456C-4F09-8A24-C68673BC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B7E4D-2B2C-4CB7-81E3-AC19C540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C0A80-FE56-4DF1-91EE-8D6DF9E3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476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为什么要做整合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1FC85-C559-4E2E-9F20-AF12318F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整合多个学习环节，系统才能拿到更完整的上下文并做更可靠的判断。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767E8-A2C1-4ABC-8EE7-208E4CDC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E57AC-9884-4E7D-870F-912713D2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861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整合多个学习环节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396F6-2FE7-41AE-B6E9-18C5366C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802D3-9853-42D5-9EEA-B1B793C9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576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上下文更完整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CB447-BC96-4CF8-8C6B-317E3E6C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9E7DF-558B-4B59-BAB5-DFFD85D9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2291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状态判断更准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3B87E-51DA-44FD-A12A-471B7C1D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B3111-8606-43EA-BB26-2F7B99EF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8006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编排更成立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05F91-00B3-40DC-A1D6-A792E95A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1390650"/>
            <a:ext cx="55816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4C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9FCD2-AF8B-4881-80B2-DD90CC40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1390650"/>
            <a:ext cx="5581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FD0B8-1B6B-4F6F-9996-546E3AA8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515481" y="3518916"/>
            <a:ext cx="40187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AE63B-78C2-4AAF-AFD3-FFAA1535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515481" y="3518916"/>
            <a:ext cx="40187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41352D-6F96-4E40-ADCD-997ABBE1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3314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>
              <a:alpha val="8627"/>
            </a:srgbClr>
          </a:solidFill>
          <a:ln xmlns:a="http://schemas.openxmlformats.org/drawingml/2006/main" w="9525">
            <a:solidFill>
              <a:srgbClr val="E8E6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A1227-6396-475A-9CD6-BAAFE22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56007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7A78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4D45A-CDF8-4B95-9C8A-58D11939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560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74ABE-1DFA-4733-8898-D022D0CE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43100"/>
            <a:ext cx="1828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C0AE02-C1FB-4F97-9036-CDF10DEC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193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问答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141E6-B4DC-4585-8741-85367CC4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00350"/>
            <a:ext cx="1828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55C71C-0308-4441-842F-203E37BE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765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材料理解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917DAD-766D-4650-AED2-287F98CF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57600"/>
            <a:ext cx="1828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2D840E-7050-493D-AB4F-E63352C4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338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练习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31AF8-DB82-4851-806D-495E3085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14850"/>
            <a:ext cx="1828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57CACD-6D04-4F3F-9626-20584DF9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910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复习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B8BA82-8989-4A9D-8332-285F96C8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95525"/>
            <a:ext cx="28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962"/>
          </a:solidFill>
          <a:ln xmlns:a="http://schemas.openxmlformats.org/drawingml/2006/main" w="0">
            <a:solidFill>
              <a:srgbClr val="6B696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969DB-573A-4183-9593-A3CCE0C3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81238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962"/>
          </a:solidFill>
          <a:ln xmlns:a="http://schemas.openxmlformats.org/drawingml/2006/main" w="0">
            <a:solidFill>
              <a:srgbClr val="6B69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ACB08-6184-4E74-8BF6-AC8B348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38488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962"/>
          </a:solidFill>
          <a:ln xmlns:a="http://schemas.openxmlformats.org/drawingml/2006/main" w="0">
            <a:solidFill>
              <a:srgbClr val="6B696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4CEB6F-1E69-4329-BD6F-22E1A66C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95738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962"/>
          </a:solidFill>
          <a:ln xmlns:a="http://schemas.openxmlformats.org/drawingml/2006/main" w="0">
            <a:solidFill>
              <a:srgbClr val="6B696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7D80F-E41F-4543-B322-F8FB0034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2988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962"/>
          </a:solidFill>
          <a:ln xmlns:a="http://schemas.openxmlformats.org/drawingml/2006/main" w="0">
            <a:solidFill>
              <a:srgbClr val="6B696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7F306B-93EF-4595-9F5C-D81AFF11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62275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19050">
            <a:solidFill>
              <a:srgbClr val="DDD8C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20A90B-CBFA-46DC-8C4C-B7E22F35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933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3"/>
                </a:solidFill>
              </a:defRPr>
            </a:pPr>
            <a:r>
              <a:rPr sz="1800" b="1">
                <a:solidFill>
                  <a:srgbClr val="141413"/>
                </a:solidFill>
              </a:rPr>
              <a:t>整合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C848E2-2999-417C-B8E2-3DC7BFDA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67675" y="338137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A72A0E-CD43-4F8F-A21F-626F07B0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828800" cy="25717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C9644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8DA7AE-1507-45A7-9A86-66F74ABD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96442"/>
                </a:solidFill>
              </a:defRPr>
            </a:pPr>
            <a:r>
              <a:rPr sz="1500" b="1">
                <a:solidFill>
                  <a:srgbClr val="C96442"/>
                </a:solidFill>
              </a:rPr>
              <a:t>更完整上下文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9F596F-4A37-42FC-9427-11DB0380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0986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77AEDE-AC96-41FE-9FFC-5FF63EF0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09863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86A261-8904-4680-887D-A465807C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4113" y="2724150"/>
            <a:ext cx="28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26F6E1-F5B0-4D55-9985-1CE993E4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709863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21B2ED-F8DE-4D22-9CDF-AC6F977A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413" y="2724150"/>
            <a:ext cx="28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CA8956-E944-4636-AA4B-407452E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6236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4BD3D3-34B5-476B-A457-E8E801CB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0986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B55977-CA2C-4203-BA01-4BD55E6D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826D01-378C-4F2B-AF61-885D31D6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252" y="274246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DB6CBE-4CC7-421F-B62C-37B67CDC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104" y="276078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A8B626-1880-4579-BDA9-B72CF3DB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956" y="277910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E62AF8-1A0B-444C-A8AA-978D19C3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808" y="2797419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6B0817-0A32-455B-9C83-6E3E6ED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660" y="281573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05823B-2242-4216-B19E-BD71649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512" y="2834054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A4463D-2CBC-4AE6-981E-BA1D45DC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363" y="2852371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784D75-7CD0-46DF-B506-A086698D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215" y="287068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2D93DC-918B-45CF-8817-05023BD6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067" y="2889006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EFF8F7-53CF-4CE2-A579-253B307B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919" y="290732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CDE11C-E69D-4C72-9738-E75EA456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771" y="292564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EA5DFC-519A-4A06-B27E-6D80AD2A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623" y="294395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801B1A-6D1C-471F-9251-CE4F6B93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546424-0582-41AA-8388-6A363A4D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327" y="298059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792CC1-DA12-440C-8FC8-BC2BE16D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179" y="299891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92A5E8-1C26-4658-94F5-A549EBEB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031" y="301722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CB14C1-669A-4880-B420-21E30AA7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883" y="3035544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4A12F3-33E6-413C-98BA-784ECA57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735" y="305386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430C06C-4E9B-45A6-AFEB-1F84908B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587" y="3072179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5E3607A-E3D0-48A8-88F4-B311A405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438" y="3090496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37CEC1D-A103-47F4-985E-07FC5EB9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290" y="310881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7D6DBD-0EA8-4833-B697-008DC8EE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142" y="3127131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FE90815-5D27-4A82-8E72-BE3A827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994" y="314544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9AF410-F0F3-4775-8461-82AE58FC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846" y="316376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3237F9-AF09-425E-A7CB-F8DF4A98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698" y="318208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3A4B63-9D3E-4306-8593-E9C9CBA5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004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928154F-6A43-4949-8E90-35F3EB1F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70986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E224091-77F3-4A56-986A-9DBBDE42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7241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7E75447-1E42-47A3-B9E6-57D92FA2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48" y="274246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F0F1F1-CB2E-4AB2-8E97-718E93CC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996" y="276078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CF645B-BE73-47DC-AB1A-44653443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144" y="277910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FBB871F-D057-426B-B0CC-5F4102C3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292" y="2797419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E17E13D-B6A5-4458-A713-3AA62AA6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440" y="281573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D0A9C02-FE28-4083-A97C-9E7F592E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3588" y="2834054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5436AA2-C474-42C2-9422-737E00BE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6737" y="2852371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D81EB4-826A-467A-B0C4-B574ACB1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885" y="287068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5A18E11-0442-4726-8FAF-8481508E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033" y="2889006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9C50ABA-1DA8-4E9E-BC55-868E98ED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181" y="290732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C6AE1A-E7A4-417B-A631-F908CA73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329" y="292564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1C464D3-B259-4731-A329-83139CEF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477" y="294395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EEAA88F-5F6B-455A-A393-610A088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6227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7716128-A648-41A6-B65A-08D7CC41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773" y="298059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71C5A2C-8A71-4200-828A-817F9FE9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1921" y="299891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B043F6C-F82B-4F7A-8E3D-D4A056F2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069" y="301722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1B587BC-CF4C-4037-8160-2941B3D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217" y="3035544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DE3223D-3870-462B-B29D-35D930F2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365" y="305386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2A950C6-0BB5-420C-954D-C9C4D942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4513" y="3072179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6974539-E9C5-4A09-9583-481CC206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662" y="3090496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E817715-05C9-4865-8233-DB0D117B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810" y="310881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A95C262-F942-4893-B8F6-50040EEC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958" y="3127131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A2FCA59-C442-4D92-B417-ACBB28A3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06" y="314544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1E63186-4DCC-4F65-9311-FCD550A4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254" y="316376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0A36BE8-05B2-48A6-92C0-9A00D79C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402" y="318208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30A3B07-2608-44CC-9BC2-4937B531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004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AAAE221-800C-4E29-ACD4-86324E8E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18611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C06487-BB3C-4782-BD13-54790DF1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766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100E733-C30D-4DCA-BB68-F0126B77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5252" y="365833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E9328DC-3706-4300-A05F-A5172024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104" y="364001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57D2C81-B1FD-4E60-83E7-BCDC275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956" y="362169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C08348F-5A0F-46AC-AFA6-F7492DE3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808" y="3603381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1491D8E-DB2A-44E8-9065-B37741B9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660" y="358506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5D0CA0C-7050-4F70-8348-9977B982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9512" y="3566746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8E32BFB-3664-4538-A02F-896C4E34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363" y="3548429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2769303-1912-4F8F-9824-08255C46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3215" y="353011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D105A0D-3786-4632-858F-5BEE11F9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067" y="3511794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32FFEB2-3055-49A1-8F9B-35B978B8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6919" y="349347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2ED17B6-97A1-4A08-882A-C25ED104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771" y="347516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DFFF77E-438F-4F65-9AE2-1B88F3B0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623" y="345684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2ED5E7E-4A7B-44BA-BBA4-9C9DE914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4385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67E14C5-C98E-4706-B14D-7A89C07B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327" y="342020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CFE7BE9-03EB-4FEB-B940-7697FC53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179" y="340189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73A7373-5E27-4EE3-A01D-F973B8A6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031" y="338357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3BEE58B-8651-4466-B30B-E4606C7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883" y="3365256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BAFD68D-5F75-422F-8616-A67C2631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1735" y="334693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3EB1912-76F5-45B0-A422-E33C9F51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587" y="3328621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BB898BE-9A7B-4FD3-AEC2-6E0DFA30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438" y="3310304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B9A0DCB-DD6F-4F1F-81A9-39C9B880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290" y="329198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23C7986-B438-4D40-93E9-83C889D5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142" y="3273669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ABC4777-557D-449D-95C0-5348F108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5994" y="325535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E811AB3B-3AB3-4DA0-94CE-833626AF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846" y="323703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8DAC598-6E57-456A-B51D-926F0700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698" y="321871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8A6DC8A-B109-4F1B-86E2-2FC40719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004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A8252CC-3377-485B-8575-551F579D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86113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1C75255-9813-4D6A-A645-DC0E18F8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6766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7A5ED23-B9C9-4B37-99B5-C4DCCEAE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7848" y="365833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287F6B4-6FF6-42E9-A834-410C96CA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0996" y="364001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760866F-673B-40BA-9D32-1E0837CB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4144" y="362169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3A24A3A-0BAD-45FD-8AFB-43160586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292" y="3603381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55A28B8-C6CC-4AD0-9BD4-0A37DD7D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440" y="358506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C064398-D859-4818-9887-765D99FC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3588" y="3566746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9492D8B-AEE7-4BA6-93FE-3EA79B03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6737" y="3548429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7C50B1B-207E-44C8-A1BF-4B4B228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885" y="353011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3E161AD-7344-4775-B7F7-62C62488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3033" y="3511794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7E1AEC4-5A8C-4E1E-9B33-A830920C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181" y="349347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E4710BB9-C85B-49FD-9B68-9988BAE6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329" y="347516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D0348C8-8279-4A9C-8F85-2CEA4438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477" y="345684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92B2E5E-0322-400A-ADA0-CC94FEEF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43852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CBF4F68-A45C-4214-992D-77C4FFE8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773" y="342020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C956888-F26A-42CA-B4D1-79BAA950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1921" y="340189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3BCD6A6-3F80-4110-B884-A9138DDA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5069" y="3383573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D5BE3C6-A619-46DA-B535-A1F7F564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217" y="3365256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2AAEBDA-641E-461F-8301-3AD9BA54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1365" y="3346938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AE32D53-7C47-4967-8241-B1968858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4513" y="3328621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3177A25-D215-49B2-A68F-3A91105C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662" y="3310304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C9C2BF3-F570-4F06-A9D6-C277CE8D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0810" y="329198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9B36F43-6D9F-44A8-8B88-BA1D3BFB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958" y="3273669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A652449-1A25-4609-93AE-2FA06AC6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06" y="3255352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70D14B7-7FEF-42D1-8E76-713746C1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254" y="3237035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583C163-3E61-4762-9481-9F87E1AC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3402" y="3218717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587357D-C7EA-40C2-94D9-748A18B6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0040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4A5850D-B120-4809-9E07-23A590F6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19050">
            <a:solidFill>
              <a:srgbClr val="C96442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D8805A0-F091-47E1-82BA-37D2ECAB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812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6962"/>
                </a:solidFill>
              </a:defRPr>
            </a:pPr>
            <a:r>
              <a:rPr sz="1125" b="1">
                <a:solidFill>
                  <a:srgbClr val="6B6962"/>
                </a:solidFill>
              </a:rPr>
              <a:t>问答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DC83ED9-4EA5-45A7-A984-7A2F4FAB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81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19050">
            <a:solidFill>
              <a:srgbClr val="C96442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0BB7E38-08E2-4436-BB1D-FD930ABF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812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6962"/>
                </a:solidFill>
              </a:defRPr>
            </a:pPr>
            <a:r>
              <a:rPr sz="1125" b="1">
                <a:solidFill>
                  <a:srgbClr val="6B6962"/>
                </a:solidFill>
              </a:rPr>
              <a:t>材料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719EC472-EB68-4C20-8863-4AB2CB26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19050">
            <a:solidFill>
              <a:srgbClr val="C96442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C7F37E39-96B2-4489-BCCE-33447657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337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6962"/>
                </a:solidFill>
              </a:defRPr>
            </a:pPr>
            <a:r>
              <a:rPr sz="1125" b="1">
                <a:solidFill>
                  <a:srgbClr val="6B6962"/>
                </a:solidFill>
              </a:rPr>
              <a:t>练习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120215E-DB28-4983-92EB-9AA5EC56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33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19050">
            <a:solidFill>
              <a:srgbClr val="C96442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B8F0037-57E6-44CD-A101-F137F2A1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3377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B6962"/>
                </a:solidFill>
              </a:defRPr>
            </a:pPr>
            <a:r>
              <a:rPr sz="1125" b="1">
                <a:solidFill>
                  <a:srgbClr val="6B6962"/>
                </a:solidFill>
              </a:rPr>
              <a:t>复习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F42503F-3472-409F-8F05-2F0A5C7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57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9F5"/>
          </a:solidFill>
          <a:ln xmlns:a="http://schemas.openxmlformats.org/drawingml/2006/main" w="19050">
            <a:solidFill>
              <a:srgbClr val="C96442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8362266D-5CC8-483E-99E0-1C8ADF50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57525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6962"/>
                </a:solidFill>
              </a:defRPr>
            </a:pPr>
            <a:r>
              <a:rPr sz="1200" b="1">
                <a:solidFill>
                  <a:srgbClr val="6B6962"/>
                </a:solidFill>
              </a:rPr>
              <a:t>用户</a:t>
            </a:r>
          </a:p>
        </p:txBody>
      </p:sp>
    </p:spTree>
    <p:extLst>
      <p:ext uri="{BB962C8B-B14F-4D97-AF65-F5344CB8AC3E}">
        <p14:creationId xmlns:p14="http://schemas.microsoft.com/office/powerpoint/2010/main" val="16698842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2A620-687A-44BF-960D-DD696300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OPPORTUNITY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C91D1-494D-438B-A75D-34D306FD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05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02A56-DB5B-470A-93AD-9B915CBB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8A02-D411-4DA3-BA78-3CBFCC31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B0AE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A4B26-612D-4DD1-B5F8-CC0BD250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476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AF9F5"/>
                </a:solidFill>
              </a:defRPr>
            </a:pPr>
            <a:r>
              <a:rPr sz="2550" b="1">
                <a:solidFill>
                  <a:srgbClr val="FAF9F5"/>
                </a:solidFill>
              </a:rPr>
              <a:t>学习编排层，才是新的产品机会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E090F-ED49-43FF-964D-064562DE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0AEA5"/>
                </a:solidFill>
              </a:defRPr>
            </a:pPr>
            <a:r>
              <a:rPr sz="1350" b="0">
                <a:solidFill>
                  <a:srgbClr val="B0AEA5"/>
                </a:solidFill>
              </a:rPr>
              <a:t>创新不在多一个功能，而在补出“判断和编排”这一层。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ED4A0-8445-48D6-AC89-A715E228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480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AF9F5"/>
                </a:solidFill>
              </a:defRPr>
            </a:pPr>
            <a:r>
              <a:rPr sz="2250" b="1">
                <a:solidFill>
                  <a:srgbClr val="FAF9F5"/>
                </a:solidFill>
              </a:rPr>
              <a:t>不是再做一个功能更全的学习工具，而是补出学习编排层。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1D94A-6B48-43C4-BFA3-95E8CAA3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1352550"/>
            <a:ext cx="5810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30302E"/>
          </a:solidFill>
          <a:ln xmlns:a="http://schemas.openxmlformats.org/drawingml/2006/main" w="11430">
            <a:solidFill>
              <a:srgbClr val="B0AE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72CC7-2916-4A4D-8C30-CD635D8A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1352550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795C1-E10F-4B8B-81EE-6BBFD070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318885" y="3546157"/>
            <a:ext cx="41833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A29A5-F5FD-4014-BD24-A9B21723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318885" y="3546157"/>
            <a:ext cx="41833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EE1F3-A23E-42B3-A831-8EE1E569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2925" y="3343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AEA5">
              <a:alpha val="12549"/>
            </a:srgbClr>
          </a:solidFill>
          <a:ln xmlns:a="http://schemas.openxmlformats.org/drawingml/2006/main" w="9525">
            <a:solidFill>
              <a:srgbClr val="B0AEA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46169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C2B0C-F8EA-4C0A-99A0-E3FBAA5F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1E922-891B-407E-AB13-3FE058A1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06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26E2D-384D-4FB9-BCF0-AE680524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0E667-CA47-4F85-B0CB-3EB7F17B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FB054-EDCC-408A-A4C0-7C6917A6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781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我们是什么，不是什么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60D54-15EE-4ACB-A4B8-EEF1C8ED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先纠正评委的参照系，再进入功能和 demo。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553CC-4897-4549-BEF4-CDFAB952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09900"/>
            <a:ext cx="5143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D06EA-0998-4DAA-97D3-52BF68AA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099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D0081-06E4-4400-86E8-3ACC6365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09900"/>
            <a:ext cx="5143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15E4C-BC42-4FB4-9E13-21779344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099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13A74-B6DF-4B73-997C-D2F9A45F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2385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我们是什么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8F12D-07C9-4659-8205-E6139665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2385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我们不是什么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24A6C-B470-4122-9830-84434CF9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7327F-876E-4EFF-8754-9FD5B9F1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752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按学习主题持续推进的学习系统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8E4411-AD5D-433E-8534-1985A6A6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5C3E4-A5FC-4D60-865C-D90A07ED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3243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围绕知识点和状态对象组织学习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34C097-8BF1-4799-B152-F1AF167F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D7CA9-B4D6-4D48-A965-14307579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895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根据状态决定研讨、学习还是复习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4EDCF-7102-4F8F-AF76-910B412F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5D725-E230-4944-9F4E-8936520B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3752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不是单次聊天的 AI tutor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67691-6EE5-4D79-A7C4-52811816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DCF33-3094-4B82-8673-55F4B4C9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43243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不是材料 summary 工具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A52EA-9F01-40C8-B20B-2FE70FEC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ECFEE2-305D-4CA7-B050-33A62630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4895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不是单点刷题或卡片工具</a:t>
            </a:r>
          </a:p>
        </p:txBody>
      </p:sp>
    </p:spTree>
    <p:extLst>
      <p:ext uri="{BB962C8B-B14F-4D97-AF65-F5344CB8AC3E}">
        <p14:creationId xmlns:p14="http://schemas.microsoft.com/office/powerpoint/2010/main" val="20860930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AD419-C97E-4D90-AB4B-E81D20AE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CF6CF-523E-47A3-B93C-A3BE38C5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07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55440-27B1-4043-839A-02380737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D393A-51D0-4173-9C8C-04156396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C2B39-FD06-478A-A2CF-4E05D120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476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按学习主题组织持续学习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23A75-B548-47BF-88C4-DCA19054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系统围绕同一学习主题，持续组织材料、知识点、session 和 feedback。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B93C7-6AF9-43A8-95BF-91B59D43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AF6E7-2629-4581-867A-BDAA0B14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861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一个学习主题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7ECA5-C79B-4B88-957C-8C71EBD8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4A66F-60BE-47DA-BCA8-AD16B14E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576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多轮材料输入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15EF6-ED6E-48BC-B5F9-E23FF138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C4075-E0BC-4BAC-8D47-8D3F10EE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2291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知识点、session、feedback 持续积累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B249BB-35FE-4904-AD48-21C7E7A5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876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F18C7-B33D-45BD-AA66-D8D878BF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8006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围绕同一主题持续推进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5285FB-50E4-45D5-B78D-DB7AAC3A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1390650"/>
            <a:ext cx="55816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4C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96C69-0546-4C71-AC77-05BEB76E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1390650"/>
            <a:ext cx="5581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94C55-4BE3-4D19-B883-7B0585AD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515481" y="3518916"/>
            <a:ext cx="40187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025D0-A6B6-4036-ABEC-C20DF237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515481" y="3518916"/>
            <a:ext cx="40187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46846-F667-4A15-9CB6-81F90B8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3314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>
              <a:alpha val="8627"/>
            </a:srgbClr>
          </a:solidFill>
          <a:ln xmlns:a="http://schemas.openxmlformats.org/drawingml/2006/main" w="9525">
            <a:solidFill>
              <a:srgbClr val="E8E6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EC3EF7-DF4C-4115-8C92-4161779A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56007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7A78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28115-8DB3-4D72-A8D4-17755E3D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560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8567E-E671-4B32-AC92-F8A98F38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57350"/>
            <a:ext cx="4953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5F4ED"/>
          </a:solidFill>
          <a:ln xmlns:a="http://schemas.openxmlformats.org/drawingml/2006/main" w="19050">
            <a:solidFill>
              <a:srgbClr val="C9644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2BCD3B-537F-4D6D-9A00-00DB8919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71650"/>
            <a:ext cx="350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6442"/>
                </a:solidFill>
              </a:defRPr>
            </a:pPr>
            <a:r>
              <a:rPr sz="2100" b="1">
                <a:solidFill>
                  <a:srgbClr val="C96442"/>
                </a:solidFill>
              </a:rPr>
              <a:t>学习主题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3F602D-5F69-4D2F-BCFD-077A9106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1485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EE8945-093D-42D7-BD20-6F620082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5BB09-FBB7-439C-BEF1-6972B093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1485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6F9F81-6E5A-4123-8A76-B3FF007F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3365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知识点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D65CE-2C20-473D-862D-C975D4AF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1485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273EC9-E3DE-4A8F-9C6F-72DE0394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session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56F4A2-BB6F-4081-8D53-7384CDF1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14859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E12914-B726-4A7E-A6C9-43C28E43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2FC233-4C67-43F3-BD3F-B9F054AA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6563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FEFB57-5084-471F-9625-BF4419C3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663" y="35242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521F18-724B-417E-AC4B-70DF6264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413" y="3524250"/>
            <a:ext cx="28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1C0027-186F-40A0-9849-64C38304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4813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5959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FFD38-D643-480A-8E92-E745DB6F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A7F7F-BC5C-4447-A596-37A54B70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08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ABE44-3476-4A16-95C4-301664FB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A1E72-01D8-481D-B70E-41F431D1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49A92-EABE-4B37-8411-587BE3B2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8001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系统如何运作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0C917-A465-4BB9-A623-A2B4106F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这条主线贯穿产品定义、功能介绍、Demo 和技术方案。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66234-679F-4506-94D9-8C3414FA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E7B1F-94E5-49CF-8F2C-BABFB488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7DB4F-CD73-4EF9-878D-D3ECC321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学习主题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F68A5-B3CF-4BC6-8AF3-A7C210BD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37338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5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32CF2-E18D-4A96-8175-0901891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45536C-E933-467D-B1EB-56BAA434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9BC73-4A98-483B-9F10-72460E7C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materials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63D76-E2AE-4B0E-B6FC-743D8306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37338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5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A80FE-EB62-4075-8613-15DBD116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411D6-AF33-4D71-8714-3DA946F2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CBEB8-3261-44C0-92FF-D7B6CC36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knowledge points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ADE71-A58A-4331-84F7-4511D960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37338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5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672DB-F5C4-40AE-8D78-299B344E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456B6-4440-429A-9AD0-6557916A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039CE-1E14-4E4A-A5A1-1435F04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sessions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3C412-9F33-4060-A2BC-EB88B8DA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37338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5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0B30F-0759-4642-BD3A-B61C7314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ABAE2-2E2F-4620-B356-1004BEB8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E55D9-31E2-4671-B341-79B518AF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485155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776A4-BA32-407E-B7F8-1C8A148F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5A6AF-0274-4EFF-9C08-F5380708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09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9DB3C-04C8-4587-9DF7-AFC066F6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1AA6F-6F43-41DF-9D72-CF8B01D6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BA6AF-CBF7-4F03-8960-EB4C1B50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781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当前比赛版如何收敛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E855D-D93F-48F6-BDA9-CB9B84C4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长期愿景更大，但比赛版先证明 grounded MVP 已经跑通。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D41CC-B97E-45CE-AF46-F6041C4F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09900"/>
            <a:ext cx="5143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16946-07D5-4138-B115-29C1FC5C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099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C583B-7AB4-458B-811A-7441A2AF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09900"/>
            <a:ext cx="5143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98A55-C52B-4039-A234-739B0DD1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099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B3D39-78D1-4FE8-AC97-7DE43A11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2385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长期愿景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8AF3E-8B9B-4EEC-B5CD-F7C755F7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2385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当前比赛版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DCC1F-332B-437D-AFF1-1C49770C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26D35-F291-4B38-879F-6D0BDF58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752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chat-first / AI-assisted 学习主题发现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FA327-CEC3-4D0C-B1A9-1F5971AE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95FFD-A16B-47E8-A576-A5202DD7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3243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多入口形成学习主题边界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68CFE-8559-4688-9EA5-EB9C7446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5E471-8042-41CC-9D90-0D1DF471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895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更完整 review engine 和多模态学习动作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D648C-323D-4783-A4BF-890EEDAB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6F77F-4529-4AFC-BB4E-CCB53271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3752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material-first 的 grounded 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C8F4B-C255-4E80-A359-CFCBF92E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1C8DF-64E9-4DF3-B46C-963B9F3D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43243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先跑通知识点生成、session 与 feedback 回流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8BF84-ACE2-4BF3-B6EE-EA7C714F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B33E01-5F37-4B69-AEC3-6DAA217A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4895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先证明最小闭环成立</a:t>
            </a:r>
          </a:p>
        </p:txBody>
      </p:sp>
    </p:spTree>
    <p:extLst>
      <p:ext uri="{BB962C8B-B14F-4D97-AF65-F5344CB8AC3E}">
        <p14:creationId xmlns:p14="http://schemas.microsoft.com/office/powerpoint/2010/main" val="18862590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AF6CC-CFA8-493B-B832-E6FC4D94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DE377-3D48-42BB-BF79-785614A2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10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B2A03-1DF3-42B7-BA67-E8155587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C3651-208B-4C83-811E-807BC141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1FAD0-3AD4-42BE-A7B3-190149D9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57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材料如何变成知识点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BC659-0E1F-4330-92D2-93DF24E5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材料不会只被总结，而会变成可学习、可追踪、可复习的知识点对象。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174DB-1722-4442-8B4C-A6469A07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F178C-07D1-4AE2-B53F-1DAA507D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48000"/>
            <a:ext cx="386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grounded 入口的第一层证据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6674E-493A-49F9-AD70-79A9B627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904C1-0032-4F5C-B9EB-8673B7F5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19500"/>
            <a:ext cx="386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材料进入系统后成为知识点对象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DC989-FA58-4C55-A821-B4637651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3DD1A-E402-40B0-A7E2-1A9E5009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191000"/>
            <a:ext cx="386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后续学习和复习都围绕这些对象展开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9F95B-DC11-4157-BDAD-1F4F1BEA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1562100"/>
            <a:ext cx="55626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4C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4CA9F-78E5-40A8-881F-74C92ED7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1562100"/>
            <a:ext cx="5562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234F7-C2E7-4892-91E6-A159B943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531864" y="3447669"/>
            <a:ext cx="40050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5A199-3108-41A7-B91E-5F555F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531864" y="3447669"/>
            <a:ext cx="40050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6FA6C-BD12-4375-9DB3-3AD2460F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3238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>
              <a:alpha val="8627"/>
            </a:srgbClr>
          </a:solidFill>
          <a:ln xmlns:a="http://schemas.openxmlformats.org/drawingml/2006/main" w="9525">
            <a:solidFill>
              <a:srgbClr val="E8E6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3979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18EF0-3C92-4F58-9D02-1AA39793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EE250-7F70-4809-8A22-13748EDE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11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D1780-CFC2-42D8-9CA7-38EED79A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9C2D1-0276-4873-8435-8E0CD40C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10D56-25D9-43FC-9EA8-00501D9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572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为什么需要研讨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CA7E3-DB95-4E41-8AE0-735A674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57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研讨不是闲聊，而是在澄清问题、补上下文、调整知识点边界。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9F572-C82F-4DEC-9249-16962C77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411B5-EF75-41CA-9762-9FD5C45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48000"/>
            <a:ext cx="386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澄清问题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0722F-C0BC-49F9-8422-52A9F385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39E41-4BDF-4B0A-A8C3-1945E756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19500"/>
            <a:ext cx="386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补上下文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37057-B0DA-43A8-9AF6-C5CA28D5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50A1F-84A1-4EB2-8008-AB2F19BD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191000"/>
            <a:ext cx="3867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调整知识点边界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D8EEA-A500-4586-8649-24DDBF3C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1562100"/>
            <a:ext cx="55626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4C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D4999-DD5F-4327-A388-CF34106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1562100"/>
            <a:ext cx="5562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3753C7-3480-4726-9C9E-4F16D502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531864" y="3447669"/>
            <a:ext cx="40050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6363A-E94D-41B1-BD72-7763C6F8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531864" y="3447669"/>
            <a:ext cx="4005072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7FA99-3854-4D2B-8E90-D5E6E071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3238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>
              <a:alpha val="8627"/>
            </a:srgbClr>
          </a:solidFill>
          <a:ln xmlns:a="http://schemas.openxmlformats.org/drawingml/2006/main" w="9525">
            <a:solidFill>
              <a:srgbClr val="E8E6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74977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7A683-DEFB-4342-A745-846AC827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C1748-8793-42D3-9AFA-18C9D634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12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60411-4BCF-4CC7-A141-C3898650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13F85-D1C4-456E-85AE-D26B2978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BDD5C-1B65-4510-BC60-1E3152C0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7810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为什么学习和复习要分开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C21A2-7EFF-4B1B-9806-997223F6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系统不是统一出题，而是根据状态进入不同动作。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A47FB-F58A-4E8C-9C9D-5136E151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09900"/>
            <a:ext cx="5143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CBD8C-B3A3-44AB-857D-A5CDEADD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099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B39D3-A2DF-4561-94F3-046B11DD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09900"/>
            <a:ext cx="51435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E8F01-9CC5-4EB8-830E-C104CE19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3009900"/>
            <a:ext cx="7620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7AAA4-BCE2-4CBE-9A05-CC6DA352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2385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学习 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9877F-F7BF-4599-A21E-E6A11583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2385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复习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29429-816B-48B2-BA93-FA66549A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10D6D-0A09-4B4D-82B2-21DF9E14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3752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针对还没掌握的知识点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874B9-2D09-43EC-86EB-0DCDFDA5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6EF61-7F6B-4734-9E87-DF8C44D7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3243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目标是建立初始理解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9215F-0E97-4602-A73E-7CB468FB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73D2AB-EE16-40D0-835B-9116D0C5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4895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更偏引导和建构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10AE49-167B-4133-8CD9-49178C0E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829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20C2C-5F69-47DE-822C-A10152A4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3752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针对已学过但需要巩固的知识点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54948-05CC-42B8-B5B2-3B037EC0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400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D0C4D-0146-4262-BCFF-1E39B61F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43243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目标是检验和强化记忆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E6987-2488-4700-A417-9373828C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4972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DEB54-3AB4-4257-AA57-72F9E81E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050" y="4895850"/>
            <a:ext cx="4457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更偏召回、判断与巩固</a:t>
            </a:r>
          </a:p>
        </p:txBody>
      </p:sp>
    </p:spTree>
    <p:extLst>
      <p:ext uri="{BB962C8B-B14F-4D97-AF65-F5344CB8AC3E}">
        <p14:creationId xmlns:p14="http://schemas.microsoft.com/office/powerpoint/2010/main" val="17086151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58D55-BB00-4390-B0A9-6B07CD4A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AFC60-6A13-449F-AAF4-7494089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13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3A8C9-E1EE-4E07-B52F-AD8DEC1B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A62D3-3FD7-4C20-8577-31C0F9EC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0F7FA-6951-411F-9F1F-79FEEE03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476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复习反馈如何驱动持续学习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0E17D-EA76-4A9C-8A4F-69C94B8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持续学习的关键不在做题，而在结果会回流到下一轮安排。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10B72-6D6D-4589-9B82-C89864F0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A266A-0CBB-48D2-81C5-F71B9ED5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861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feedback 不会停留在当前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3FA54-C571-435C-97E3-F28EAF84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733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FDD23-7F7A-4F0B-88A1-787CAF28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576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结果会进入状态更新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997CF-6177-4AA4-ACBA-392A84AF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73DB5-D00D-4305-908F-12F0718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229100"/>
            <a:ext cx="3771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下一轮动作据此重新安排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7C015-FC6B-4BF5-8931-833DC769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1390650"/>
            <a:ext cx="55816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4C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39B60-A9A5-4F86-A9FC-44ED195C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1390650"/>
            <a:ext cx="5581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6F722A-0F3E-4CBE-B2FE-006F3742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515481" y="3518916"/>
            <a:ext cx="40187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E986B-A1C2-4A90-96C1-2F05EFC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515481" y="3518916"/>
            <a:ext cx="40187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CDCF0-88F7-40E1-9ED7-5CEA4B10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3314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>
              <a:alpha val="8627"/>
            </a:srgbClr>
          </a:solidFill>
          <a:ln xmlns:a="http://schemas.openxmlformats.org/drawingml/2006/main" w="9525">
            <a:solidFill>
              <a:srgbClr val="E8E6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B8D5F-93FC-4094-B3EB-D67C7EA4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560070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BFAF6"/>
          </a:solidFill>
          <a:ln xmlns:a="http://schemas.openxmlformats.org/drawingml/2006/main" w="14288">
            <a:solidFill>
              <a:srgbClr val="7A787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F94D2-C938-46B8-A15E-3264CAD4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90650"/>
            <a:ext cx="5600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81A9E-703A-4A04-A117-CA78349A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90700"/>
            <a:ext cx="1885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C025E9-7B17-42CA-A99A-2E735E5B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66900"/>
            <a:ext cx="1733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3"/>
                </a:solidFill>
              </a:defRPr>
            </a:pPr>
            <a:r>
              <a:rPr sz="1800" b="1">
                <a:solidFill>
                  <a:srgbClr val="141413"/>
                </a:solidFill>
              </a:rPr>
              <a:t>学习 / 复习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60382-2487-4630-9977-DFCF6888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24200"/>
            <a:ext cx="1885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249914-69B8-4A34-BC85-F2CDEEC6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00400"/>
            <a:ext cx="1733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3"/>
                </a:solidFill>
              </a:defRPr>
            </a:pPr>
            <a:r>
              <a:rPr sz="1800" b="1">
                <a:solidFill>
                  <a:srgbClr val="141413"/>
                </a:solidFill>
              </a:rPr>
              <a:t>feedback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502F3-D162-486F-8765-C899FF30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76750"/>
            <a:ext cx="1885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6A87FA-88B6-4D9C-B4C5-8AE9999A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52950"/>
            <a:ext cx="1733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3"/>
                </a:solidFill>
              </a:defRPr>
            </a:pPr>
            <a:r>
              <a:rPr sz="1800" b="1">
                <a:solidFill>
                  <a:srgbClr val="141413"/>
                </a:solidFill>
              </a:rPr>
              <a:t>状态更新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CF428F-83B3-416B-8F54-3B3C6E5A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24200"/>
            <a:ext cx="1885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EC448A-E442-45EE-BB08-2162A98B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00400"/>
            <a:ext cx="1733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1413"/>
                </a:solidFill>
              </a:defRPr>
            </a:pPr>
            <a:r>
              <a:rPr sz="1800" b="1">
                <a:solidFill>
                  <a:srgbClr val="141413"/>
                </a:solidFill>
              </a:rPr>
              <a:t>下一轮学习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398DA1-4316-440C-BCE0-583109C1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2381250"/>
            <a:ext cx="323850" cy="6667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4C3BB8-8EC5-4154-B71B-D3D76488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82150" y="2019300"/>
            <a:ext cx="8382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B6EE59-221E-495C-A349-A193FDA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4057650"/>
            <a:ext cx="323850" cy="781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7A304C-D99E-4FC0-B206-0C706E62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4705350"/>
            <a:ext cx="83820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72860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5EECF-15E3-403A-BA1F-7F664FBD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49E34-4940-4DD2-B754-EAA23CB6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14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3416F-CD11-470E-BBCE-A297BDBA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8D153-733C-4309-B507-BFA3F32B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17CEC-892D-4204-BD4A-500F636F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857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系统真的在维护状态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B45FB-66E0-4CD3-AB6D-4B0426AA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不展开算法，只证明系统真的在维护状态对象，而不是一次性对话。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508E2-16AF-4C65-BD37-643074F6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956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9BE77-14EE-4976-B85E-50C77B5D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95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418A3-A33B-4A11-BCA0-D14E2617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1051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画像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31383-18F2-4CB9-840C-DF72B8DE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5433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用户状态不是单次回答，而是可持续更新的学习画像。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8D860-3939-4B67-82CB-57A82F6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8956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3E6C1-1D2E-42FE-89E9-E5450B1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895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A1B8B-FB46-42C3-908B-8B1B4014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1051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热力图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52079-22A7-4029-A52F-08444D99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5433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知识点状态可以被聚合成更直观的学习热力图。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4B1B1-F888-42C5-B126-3F8C8289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7244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CF2CE-B5BB-4A5F-A46E-8CDE2D53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724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A0FE5-8922-4A24-9873-1933D8DE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9339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状态视图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36016-85F7-4411-897F-C3E55AA6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3721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学习主题、knowledge point、session 结果会形成连续状态。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7B203-0D31-44C3-87FC-029DE454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7244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D97C0-8F5A-4EDF-A425-468A1BB7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724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19753-6915-45B7-8FF4-18EF7E33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49339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持续对象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A903D-D909-4267-B751-03D9E19B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53721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这些状态对象会影响后续学习节奏和动作安排。</a:t>
            </a:r>
          </a:p>
        </p:txBody>
      </p:sp>
    </p:spTree>
    <p:extLst>
      <p:ext uri="{BB962C8B-B14F-4D97-AF65-F5344CB8AC3E}">
        <p14:creationId xmlns:p14="http://schemas.microsoft.com/office/powerpoint/2010/main" val="8532194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206F6-489E-44E6-A11C-6D4E862D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15B7E-4493-4AD0-A510-503BF91B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15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A172A-ACC9-42C5-AF13-D4BACDCB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2983E-2CA8-4C40-9602-F8DB2071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E1C31-9FA2-45C6-9E2F-9BF4E3F9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857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功能证据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7FA82-D0E2-4DF8-A3F1-7ADC5535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这页不讲新概念，只建立“已经做出来了”的真实感。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4AA1F-EA5C-4E57-822D-D74D8C4E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956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62E92-9750-4615-9DDE-C248C21F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95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1D1DD-3F10-411E-AB1C-3C01FE84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1051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materials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0A69A-F9DE-4AB1-8823-0235797B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5433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材料进入系统而不是一次性上传即结束。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1A7BA-932C-484B-B669-5CBD08DA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8956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47FA5-F442-4FE4-B871-BCBA5747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895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DB7C7E-B6EF-4F97-B691-B7AC3744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1051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knowledge 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A29C1-8203-44A6-8FFE-C3B8AB4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5433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知识点被显式组织出来并参与后续学习。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E437A-9C74-4B4F-87A5-220197E4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7244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A6BFB-F4A4-4862-A22E-AB533BA7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724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73D5E-21A3-4CC1-9C59-D352365C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9339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sessions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2614B-F5FC-454F-A6E2-54442517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3721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研讨、学习、复习具备不同入口和语义。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64F7E-B1A2-481F-89E0-9233191A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7244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F3684-9556-4A0B-B349-E6DF698A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724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91FBC-37E4-47BA-8861-0DDDCC2B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49339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293370-0139-4A0A-8777-08D93CC3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53721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session 结果会回到后续持续学习。</a:t>
            </a:r>
          </a:p>
        </p:txBody>
      </p:sp>
    </p:spTree>
    <p:extLst>
      <p:ext uri="{BB962C8B-B14F-4D97-AF65-F5344CB8AC3E}">
        <p14:creationId xmlns:p14="http://schemas.microsoft.com/office/powerpoint/2010/main" val="5084632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603FE-B834-4A91-A2AB-B63939A0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0A8A5-F647-45C0-A533-C29F95D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16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34AB6-62DB-4CFF-BD13-21D834BD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0127D-5565-4E2D-8585-E76B147B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65934-9CB4-49E4-8B32-DE8DA560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8001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Demo 主链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595AB-B7BE-4AC8-8ABB-800F2B81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先告诉评委接下来要看什么，不要边演边解释大结构。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EB02E-1D35-4EFA-9816-13E8CD98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4C0D5-7032-4BB4-B3D4-B1721296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3C1FE-28E8-45C8-BEFB-18BA66A7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LLM 学习主题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3E573-7781-4E28-864A-81C2D526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37338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5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1A698-AE6C-4EFB-8A20-0139B35D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C71F3-4525-40A3-BEF9-3540F34F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035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58C4F-920E-4EF5-9BBF-939C2336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导入材料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1D5047-9254-41B4-BA01-E99FF7E1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37338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5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799A0-752F-4C7D-A03B-A26D346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D6B0A-4350-4FAA-899E-B3C87F9B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90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F5331-EE89-4AC7-ADD9-8E0BD14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生成知识点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645C2-AFEB-47CB-A116-A9ACFC94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37338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5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CC5EE-6B3B-4817-969D-729CAB3C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9A017-AC34-4AB4-B77B-49D3C233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8830D-F99C-4971-B750-CDB507AF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学习 / 复习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767C2-1F9F-4892-A6A8-ECF871DF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3733800"/>
            <a:ext cx="1714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5D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99E94F-7BBF-4C57-BAE7-E57FC4EF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352800"/>
            <a:ext cx="1866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666A8-1584-472F-B820-60E63872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35280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B361E-4D67-40BA-A0F7-6D520BD7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67665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3772669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F703A-F2C3-43D1-B915-45011946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C8D41-2ED4-4057-9A6E-11830600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17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5E76C-349F-4EB6-8A0A-86C4B9EC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E6EF8-1838-4DD1-BAEC-09BEAFF1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4E0EA-B0DB-417A-AF05-719DBE2B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286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Demo 演示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55402-5A5C-4886-AC56-57FD8510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聚焦前半链路：学习主题 / 材料 / 知识点。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1F7FB-9AED-42D3-AAC6-A31D91C3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C64DA-A723-44B9-9CD7-ED27EB87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48000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不解释过多 UI 细节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7D1C6-D37D-4E19-8294-3714BDBE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14F97-EE22-4B36-8FDC-E41FF129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19500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重点让评委看懂入口和对象形成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ABEC9-4AD0-47C5-AD58-393F9BF8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CB620-0DC1-4A5F-B310-2EF953C7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191000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这里建议放录屏或现场演示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8481B-3EE2-4EF1-BB19-8CDA8DE3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314450"/>
            <a:ext cx="61722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4C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A3B958-DF0B-4472-B66A-48E1778E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314450"/>
            <a:ext cx="617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0F7D7-A413-434E-923B-F258AF2C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121908" y="3470720"/>
            <a:ext cx="44439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D7CA4-BEE7-4469-9989-FD3F18EF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121908" y="3470720"/>
            <a:ext cx="44439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6DD11-E394-40E4-8A9D-5E33A4BD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2670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>
              <a:alpha val="8627"/>
            </a:srgbClr>
          </a:solidFill>
          <a:ln xmlns:a="http://schemas.openxmlformats.org/drawingml/2006/main" w="9525">
            <a:solidFill>
              <a:srgbClr val="E8E6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67810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28A7B-BA59-4974-80FA-922D67D4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5E475-5A0E-4931-B32A-B0612947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18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E08DE-DF91-4E15-B7D9-0F6D046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24A48-E2A8-4435-891D-13DE8592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EBA6A-0C2C-465B-A0BC-CC7CBD2D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286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Demo 演示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6E169-87DF-4D67-A87B-AEBFDCE4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重点证明 session / feedback / next round 已经形成后半闭环。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59C93-9B4D-455C-8D32-8E81949A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2F0FB-F3FC-45F5-9F30-D0E09323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48000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学习 / 复习进入不同动作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5CF75-1AF5-4F08-874D-73776480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695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8FB61-7232-44A5-A53C-865994F0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619500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feedback 回流到下一轮安排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EBD7C-0A86-4242-82EF-8A726B7C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144498-A166-486A-9C98-52CF88C7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4191000"/>
            <a:ext cx="3676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D4C48"/>
                </a:solidFill>
              </a:defRPr>
            </a:pPr>
            <a:r>
              <a:rPr sz="1350" b="0">
                <a:solidFill>
                  <a:srgbClr val="4D4C48"/>
                </a:solidFill>
              </a:rPr>
              <a:t>这是持续学习最关键的证据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BC7A0-4B79-485E-BFC9-2ADED1E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314450"/>
            <a:ext cx="61722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4C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76E9C-3319-4F2C-BD80-F2F498E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314450"/>
            <a:ext cx="6172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81709-FA3F-404B-8B6C-442B8A9F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121908" y="3470720"/>
            <a:ext cx="44439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E108C-A736-4AEF-8C4D-A890D4F5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121908" y="3470720"/>
            <a:ext cx="444398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3396FE-0D57-4CE4-921C-BCFC459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32670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>
              <a:alpha val="8627"/>
            </a:srgbClr>
          </a:solidFill>
          <a:ln xmlns:a="http://schemas.openxmlformats.org/drawingml/2006/main" w="9525">
            <a:solidFill>
              <a:srgbClr val="E8E6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53379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10C0C-A99B-44C5-BD61-E7424A11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TECH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E8FE4-7870-454E-951D-7B28CD94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19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F6D56-E33E-440C-9EC3-7C3DB40D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75699-89F2-4056-AD1C-BFDEA56C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B0AE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667CD-A2D1-4FA4-8C4C-348EC7F0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476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AF9F5"/>
                </a:solidFill>
              </a:defRPr>
            </a:pPr>
            <a:r>
              <a:rPr sz="2550" b="1">
                <a:solidFill>
                  <a:srgbClr val="FAF9F5"/>
                </a:solidFill>
              </a:rPr>
              <a:t>Agent + Memory 如何支撑学习编排闭环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05921-0FC2-45B4-AE2E-937232A7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0AEA5"/>
                </a:solidFill>
              </a:defRPr>
            </a:pPr>
            <a:r>
              <a:rPr sz="1350" b="0">
                <a:solidFill>
                  <a:srgbClr val="B0AEA5"/>
                </a:solidFill>
              </a:rPr>
              <a:t>技术部分不讲全栈，只讲为什么这套系统能成立。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B277D-8D9B-4B7A-B790-C51ACF5A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480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AF9F5"/>
                </a:solidFill>
              </a:defRPr>
            </a:pPr>
            <a:r>
              <a:rPr sz="2250" b="1">
                <a:solidFill>
                  <a:srgbClr val="FAF9F5"/>
                </a:solidFill>
              </a:rPr>
              <a:t>Agent 负责判断和动作，Memory 负责连续上下文和写回。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0060C-32FA-41F1-8BA1-E5AAE514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1352550"/>
            <a:ext cx="5810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30302E"/>
          </a:solidFill>
          <a:ln xmlns:a="http://schemas.openxmlformats.org/drawingml/2006/main" w="11430">
            <a:solidFill>
              <a:srgbClr val="B0AE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24503-E861-4DD4-A3E6-D80E7A65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1352550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9963D-2A6C-4E27-90C2-38658245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318885" y="3546157"/>
            <a:ext cx="41833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0E20D-336B-4C3F-BC6F-BA4EDDB7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318885" y="3546157"/>
            <a:ext cx="41833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6F821-FFB3-4F74-A46C-66695C45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2925" y="3343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AEA5">
              <a:alpha val="12549"/>
            </a:srgbClr>
          </a:solidFill>
          <a:ln xmlns:a="http://schemas.openxmlformats.org/drawingml/2006/main" w="9525">
            <a:solidFill>
              <a:srgbClr val="B0AE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320F9-0B41-4CBE-BD4D-7013B111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362075"/>
            <a:ext cx="5810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5F4ED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B435C-90D6-4837-812F-DE67128C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362075"/>
            <a:ext cx="581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81E81-E56B-4AE1-9341-9BEA90FB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335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96442"/>
                </a:solidFill>
              </a:defRPr>
            </a:pPr>
            <a:r>
              <a:rPr sz="2100" b="1">
                <a:solidFill>
                  <a:srgbClr val="C96442"/>
                </a:solidFill>
              </a:rPr>
              <a:t>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A099C6-B793-44E4-92C1-71464A2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33525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C96442"/>
                </a:solidFill>
              </a:defRPr>
            </a:pPr>
            <a:r>
              <a:rPr sz="2100" b="1">
                <a:solidFill>
                  <a:srgbClr val="C96442"/>
                </a:solidFill>
              </a:rPr>
              <a:t>Memory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854CC-8F22-4A89-ACD7-6BD47D1F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00275"/>
            <a:ext cx="1733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1911A-263D-47D3-96EE-35E9A5D6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7647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2AB835-165F-4BFE-BC83-8BFA1FE8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67075"/>
            <a:ext cx="1733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80090-EF37-43C0-B843-2CE51E26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4327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决策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5086D-57A5-420B-8A30-29A46544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33875"/>
            <a:ext cx="17335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328D0-2B39-44FB-83FF-23C91407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10075"/>
            <a:ext cx="1581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1413"/>
                </a:solidFill>
              </a:defRPr>
            </a:pPr>
            <a:r>
              <a:rPr sz="1725" b="1">
                <a:solidFill>
                  <a:srgbClr val="141413"/>
                </a:solidFill>
              </a:rPr>
              <a:t>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14AB6A-BFF5-430B-9135-FBFBB5C5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00275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6E4FC-D973-4B0E-972F-8BBBBF1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76475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1413"/>
                </a:solidFill>
              </a:defRPr>
            </a:pPr>
            <a:r>
              <a:rPr sz="1575" b="1">
                <a:solidFill>
                  <a:srgbClr val="141413"/>
                </a:solidFill>
              </a:rPr>
              <a:t>持久化记录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4B7CF-3159-4018-8D82-DF6C8C63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19425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BAC67-0E31-491A-94E8-13FE0BD1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95625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1413"/>
                </a:solidFill>
              </a:defRPr>
            </a:pPr>
            <a:r>
              <a:rPr sz="1575" b="1">
                <a:solidFill>
                  <a:srgbClr val="141413"/>
                </a:solidFill>
              </a:rPr>
              <a:t>学习者画像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50103F-5027-44E3-9EDD-390092B6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38575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74B8DA-A2BC-42BA-82A1-53757C4E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14775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1413"/>
                </a:solidFill>
              </a:defRPr>
            </a:pPr>
            <a:r>
              <a:rPr sz="1575" b="1">
                <a:solidFill>
                  <a:srgbClr val="141413"/>
                </a:solidFill>
              </a:rPr>
              <a:t>知识点状态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23FC3-2D9E-4D4C-B0F2-C4EC2237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57725"/>
            <a:ext cx="1733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14288">
            <a:solidFill>
              <a:srgbClr val="DDD8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34BA64-BB47-4146-B2AB-FDC0BA9C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33925"/>
            <a:ext cx="1581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1413"/>
                </a:solidFill>
              </a:defRPr>
            </a:pPr>
            <a:r>
              <a:rPr sz="1575" b="1">
                <a:solidFill>
                  <a:srgbClr val="141413"/>
                </a:solidFill>
              </a:rPr>
              <a:t>学习上下文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8183A2-2058-4179-A275-5D942522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43675" y="28289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3B697A-1C9D-4974-9DF2-4C6279CA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91275" y="3190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42E21-3F78-48F0-8594-0BDC974A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543675" y="38957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A61967-B472-4658-A42D-EFC7903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91275" y="42576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832280-7EE0-47CB-9F21-F352367D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2390775"/>
            <a:ext cx="14287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6B6962"/>
          </a:solidFill>
          <a:ln xmlns:a="http://schemas.openxmlformats.org/drawingml/2006/main" w="0">
            <a:solidFill>
              <a:srgbClr val="6B696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30835B-437B-4C49-AF92-C96D23D4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621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3"/>
                </a:solidFill>
              </a:defRPr>
            </a:pPr>
            <a:r>
              <a:rPr sz="1350" b="1">
                <a:solidFill>
                  <a:srgbClr val="141413"/>
                </a:solidFill>
              </a:rPr>
              <a:t>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147793-D787-453E-85B6-B451A7E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5000625"/>
            <a:ext cx="2038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C9644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B9CF6D-BCE6-4EFA-864C-9D5C2FEE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52975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1413"/>
                </a:solidFill>
              </a:defRPr>
            </a:pPr>
            <a:r>
              <a:rPr sz="1350" b="1">
                <a:solidFill>
                  <a:srgbClr val="141413"/>
                </a:solidFill>
              </a:rPr>
              <a:t>写回</a:t>
            </a:r>
          </a:p>
        </p:txBody>
      </p:sp>
    </p:spTree>
    <p:extLst>
      <p:ext uri="{BB962C8B-B14F-4D97-AF65-F5344CB8AC3E}">
        <p14:creationId xmlns:p14="http://schemas.microsoft.com/office/powerpoint/2010/main" val="10752176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A4AE3-B19B-41C1-9BF4-DEE0E31C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TECH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97ACB-5D0F-45AA-9863-EC1702F8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20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063D9-C8AD-4DD1-ADD4-779751BD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74E9-266E-40EB-A08E-89CCF107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75603-F7B9-43C5-B837-AE84DF67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857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Agent：状态与决策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E4284-2AA6-4161-A600-67FF22ED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agent 围绕知识点、学习状态和复习状态运行，而不是只看当前一句话。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A0008-96D4-4887-9F0F-4C84755C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956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17234-BC49-47BA-B570-4216CE3D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95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42137-6E1C-44C5-A40B-39885984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1051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3F413-2522-41EE-86D4-F874BF64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5433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读取知识点、学习状态、复习状态等当前上下文。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944FE-2899-402D-B2B3-D01E921C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8956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A4EDA-25E7-4762-8C24-A9A62470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895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F1A76-D7DA-4FB7-A2F4-59651F43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1051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465D7-BB19-471A-8B18-FCCA5D25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5433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判断此刻更适合研讨、学习还是复习。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D5CA4-1608-4A91-A090-EF7486AA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7244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D6194-172F-4D40-8195-563B7607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724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A0AB7-3B1A-48BB-ACEB-E22F8EA4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9339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动作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EE441-3EA1-4208-AE4F-79551211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3721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按当前状态进入对应 session 和行为路径。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4FE6B2-38CE-421D-BC20-57F4918C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7244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AA380-476F-44BF-912B-D516893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724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01DA71-3B20-4A74-9654-8D61598E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49339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写回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246531-7D8C-4B28-8CD5-6F8AF3B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53721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每轮结果都会写回长期对象，而不是聊完即结束。</a:t>
            </a:r>
          </a:p>
        </p:txBody>
      </p:sp>
    </p:spTree>
    <p:extLst>
      <p:ext uri="{BB962C8B-B14F-4D97-AF65-F5344CB8AC3E}">
        <p14:creationId xmlns:p14="http://schemas.microsoft.com/office/powerpoint/2010/main" val="18787587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35607-1070-4112-9131-76F4966B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TECH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0D817-2EFE-4995-B113-D3C214A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E5D59"/>
                </a:solidFill>
              </a:defRPr>
            </a:pPr>
            <a:r>
              <a:rPr sz="825" b="1">
                <a:solidFill>
                  <a:srgbClr val="5E5D59"/>
                </a:solidFill>
              </a:rPr>
              <a:t>21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129F-F408-4C8F-AFC6-F2959ED6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6E47E-5634-4E15-B7AE-78A85616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14141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A230-BC29-4244-A420-7BD6EABD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857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41413"/>
                </a:solidFill>
              </a:defRPr>
            </a:pPr>
            <a:r>
              <a:rPr sz="2550" b="1">
                <a:solidFill>
                  <a:srgbClr val="141413"/>
                </a:solidFill>
              </a:rPr>
              <a:t>Memory：如何记录、组织、更新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9DA94-120C-41AD-87B6-F14B1CEC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5D59"/>
                </a:solidFill>
              </a:defRPr>
            </a:pPr>
            <a:r>
              <a:rPr sz="1350" b="0">
                <a:solidFill>
                  <a:srgbClr val="5E5D59"/>
                </a:solidFill>
              </a:rPr>
              <a:t>这是这套系统区别于普通 chat + tools 的关键之一。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77377-9459-46E0-9CF4-4E826663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956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D2E3F-58ED-45EB-B13E-336F2B21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895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98C32-D2C2-4BD3-8C93-7F3BB14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1051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记录学习对象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D2EC2-5AE2-4C78-8C18-DA9387B9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5433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学习主题、materials、knowledge points、session 结果会被显式记录。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2D0B8-2587-4244-BE81-22F2CE63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8956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64E43-354B-4422-817E-42119DA9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8956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A3082-488B-4D2F-8C5B-16736FB5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1051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组织主题上下文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A91D9-B05D-4B1F-8AE1-ACDE432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35433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Memory 不是聊天历史，而是围绕学习主题组织的长期上下文。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96382-409F-4C3B-A300-78ECAC4E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7244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83F54-B2B0-4C2C-8766-7F74FA9F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724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6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073CF-A906-4460-8338-E1F5B4B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9339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更新用户状态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BBF67-576F-425D-BC51-A3DA9563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3721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feedback 和学习表现持续影响后续状态。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21BE9C-BC46-4813-A895-F3D11CC9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724400"/>
            <a:ext cx="5048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AF9F5"/>
          </a:solidFill>
          <a:ln xmlns:a="http://schemas.openxmlformats.org/drawingml/2006/main" w="9525">
            <a:solidFill>
              <a:srgbClr val="F0EE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ED279-0533-45FB-BC10-E5919156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4724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AA73D6-6590-45C7-ABCA-DD5B9F60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49339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1413"/>
                </a:solidFill>
              </a:defRPr>
            </a:pPr>
            <a:r>
              <a:rPr sz="1650" b="1">
                <a:solidFill>
                  <a:srgbClr val="141413"/>
                </a:solidFill>
              </a:rPr>
              <a:t>供给 LLM 上下文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6AA05-1831-43C6-B949-7D2DB315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5372100"/>
            <a:ext cx="4591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E5D59"/>
                </a:solidFill>
              </a:defRPr>
            </a:pPr>
            <a:r>
              <a:rPr sz="1200" b="0">
                <a:solidFill>
                  <a:srgbClr val="5E5D59"/>
                </a:solidFill>
              </a:rPr>
              <a:t>长期状态被整理成后续 agent 可用的上下文。</a:t>
            </a:r>
          </a:p>
        </p:txBody>
      </p:sp>
    </p:spTree>
    <p:extLst>
      <p:ext uri="{BB962C8B-B14F-4D97-AF65-F5344CB8AC3E}">
        <p14:creationId xmlns:p14="http://schemas.microsoft.com/office/powerpoint/2010/main" val="81173100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B5DC1-989D-46A4-ADED-2C76894B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TECH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F5EDA-DCE9-4402-B5DF-B15A3A88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22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640CE-61F3-433B-B266-E4FC579C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DA054-E75C-44B0-B4E3-C86A437D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B0AE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6AA85-701E-49D2-A743-59ADABCF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723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AF9F5"/>
                </a:solidFill>
              </a:defRPr>
            </a:pPr>
            <a:r>
              <a:rPr sz="2550" b="1">
                <a:solidFill>
                  <a:srgbClr val="FAF9F5"/>
                </a:solidFill>
              </a:rPr>
              <a:t>为什么这不是 chat + 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32062-DA43-415E-9B62-6A15A44A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0AEA5"/>
                </a:solidFill>
              </a:defRPr>
            </a:pPr>
            <a:r>
              <a:rPr sz="1350" b="0">
                <a:solidFill>
                  <a:srgbClr val="B0AEA5"/>
                </a:solidFill>
              </a:rPr>
              <a:t>前端只是承载面，真正的系统能力在状态、决策和写回。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075EC-5A18-4291-938C-9E2E6CF2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86100"/>
            <a:ext cx="108966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30302E"/>
          </a:solidFill>
          <a:ln xmlns:a="http://schemas.openxmlformats.org/drawingml/2006/main" w="9525">
            <a:solidFill>
              <a:srgbClr val="3D3D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1011E-C876-4424-9142-E7A0F9F7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86100"/>
            <a:ext cx="762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67ED5-D5CC-4342-980A-D80CAF00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600450"/>
            <a:ext cx="10020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AF9F5"/>
                </a:solidFill>
              </a:defRPr>
            </a:pPr>
            <a:r>
              <a:rPr sz="2550" b="1">
                <a:solidFill>
                  <a:srgbClr val="FAF9F5"/>
                </a:solidFill>
              </a:rPr>
              <a:t>Agent 负责决策，Memory 负责连续性，两者一起形成持续学习闭环。</a:t>
            </a:r>
          </a:p>
        </p:txBody>
      </p:sp>
    </p:spTree>
    <p:extLst>
      <p:ext uri="{BB962C8B-B14F-4D97-AF65-F5344CB8AC3E}">
        <p14:creationId xmlns:p14="http://schemas.microsoft.com/office/powerpoint/2010/main" val="7363793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414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E1B1F0B-AA8E-45A2-9E6E-2176CBDDBA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A1445-552D-4F30-8350-2E5E9FF9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38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442CE-4F7C-42D0-8996-6E328B4E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23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0AEA5"/>
                </a:solidFill>
              </a:defRPr>
            </a:pPr>
            <a:r>
              <a:rPr sz="825" b="1">
                <a:solidFill>
                  <a:srgbClr val="B0AEA5"/>
                </a:solidFill>
              </a:rPr>
              <a:t>23 / 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F15D3-971E-40F0-98DF-D0E339C3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715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B9AFF-3A27-4AB0-9DEA-D8F5F389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95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9525">
            <a:solidFill>
              <a:srgbClr val="B0AE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536BB-CD2D-4BA7-9BB4-15ABB1F1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876300"/>
            <a:ext cx="4476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AF9F5"/>
                </a:solidFill>
              </a:defRPr>
            </a:pPr>
            <a:r>
              <a:rPr sz="2550" b="1">
                <a:solidFill>
                  <a:srgbClr val="FAF9F5"/>
                </a:solidFill>
              </a:rPr>
              <a:t>最后一句话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0B49F-E904-4A8C-B922-9D5C5D7D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266950"/>
            <a:ext cx="4476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0AEA5"/>
                </a:solidFill>
              </a:defRPr>
            </a:pPr>
            <a:r>
              <a:rPr sz="1350" b="0">
                <a:solidFill>
                  <a:srgbClr val="B0AEA5"/>
                </a:solidFill>
              </a:rPr>
              <a:t>别人解决学习中的单点，我们解决跨环节的判断、组织与持续推进。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29DBD-C38E-43E7-966B-E6D8C00B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0480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AF9F5"/>
                </a:solidFill>
              </a:defRPr>
            </a:pPr>
            <a:r>
              <a:rPr sz="2250" b="1">
                <a:solidFill>
                  <a:srgbClr val="FAF9F5"/>
                </a:solidFill>
              </a:rPr>
              <a:t>Xidea 的核心不是单次回答，而是持续判断用户现在该怎么学、接下来该怎么推进。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73688-333B-439D-A7CB-4F91942C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1352550"/>
            <a:ext cx="581025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30302E"/>
          </a:solidFill>
          <a:ln xmlns:a="http://schemas.openxmlformats.org/drawingml/2006/main" w="11430">
            <a:solidFill>
              <a:srgbClr val="B0AE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999DF-E242-4D04-B35D-D8AF51B8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450" y="1352550"/>
            <a:ext cx="5810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64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AD4FE-71F5-4A91-82ED-0EED51CB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80000">
            <a:off x="6318885" y="3546157"/>
            <a:ext cx="41833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14DD5-D620-4EA2-96B3-BD529928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6318885" y="3546157"/>
            <a:ext cx="41833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A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32A11-F09F-4C67-B15F-1C7875EA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2925" y="33432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AEA5">
              <a:alpha val="12549"/>
            </a:srgbClr>
          </a:solidFill>
          <a:ln xmlns:a="http://schemas.openxmlformats.org/drawingml/2006/main" w="9525">
            <a:solidFill>
              <a:srgbClr val="B0AEA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7865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2026-04-21T18:19:56.3780000Z</dcterms:created>
  <dcterms:modified xsi:type="dcterms:W3CDTF">2026-04-21T18:19:56.3780000Z</dcterms:modified>
</coreProperties>
</file>